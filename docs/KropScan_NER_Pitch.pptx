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Space Grotesk SemiBold"/>
      <p:regular r:id="rId23"/>
      <p:bold r:id="rId24"/>
    </p:embeddedFont>
    <p:embeddedFont>
      <p:font typeface="Space Grotesk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InterSemiBold-regular.fntdata"/><Relationship Id="rId16" Type="http://schemas.openxmlformats.org/officeDocument/2006/relationships/font" Target="fonts/InterSemiBold-bold.fntdata"/><Relationship Id="rId17" Type="http://schemas.openxmlformats.org/officeDocument/2006/relationships/font" Target="fonts/InterSemiBold-italic.fntdata"/><Relationship Id="rId18" Type="http://schemas.openxmlformats.org/officeDocument/2006/relationships/font" Target="fonts/InterSemiBold-boldItalic.fntdata"/><Relationship Id="rId19" Type="http://schemas.openxmlformats.org/officeDocument/2006/relationships/font" Target="fonts/Inter-regular.fntdata"/><Relationship Id="rId20" Type="http://schemas.openxmlformats.org/officeDocument/2006/relationships/font" Target="fonts/Inter-bold.fntdata"/><Relationship Id="rId21" Type="http://schemas.openxmlformats.org/officeDocument/2006/relationships/font" Target="fonts/Inter-italic.fntdata"/><Relationship Id="rId22" Type="http://schemas.openxmlformats.org/officeDocument/2006/relationships/font" Target="fonts/Inter-boldItalic.fntdata"/><Relationship Id="rId23" Type="http://schemas.openxmlformats.org/officeDocument/2006/relationships/font" Target="fonts/SpaceGroteskSemiBold-regular.fntdata"/><Relationship Id="rId24" Type="http://schemas.openxmlformats.org/officeDocument/2006/relationships/font" Target="fonts/SpaceGroteskSemiBold-bold.fntdata"/><Relationship Id="rId25" Type="http://schemas.openxmlformats.org/officeDocument/2006/relationships/font" Target="fonts/SpaceGrotes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6389c0ec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6389c0ec5_0_2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6389c0ec5_0_4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6389c0ec5_22_0)">
  <p:cSld name="Generated (g3e6389c0ec5_22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7.png"/><Relationship Id="rId9" Type="http://schemas.openxmlformats.org/officeDocument/2006/relationships/image" Target="../media/image3.png"/><Relationship Id="rId10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Relationship Id="rId9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16600"/>
            <a:ext cx="12108976" cy="4041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4"/>
          <p:cNvGrpSpPr/>
          <p:nvPr/>
        </p:nvGrpSpPr>
        <p:grpSpPr>
          <a:xfrm>
            <a:off x="1333500" y="3514950"/>
            <a:ext cx="9525000" cy="2857500"/>
            <a:chOff x="1333500" y="3238500"/>
            <a:chExt cx="9525000" cy="2857500"/>
          </a:xfrm>
        </p:grpSpPr>
        <p:sp>
          <p:nvSpPr>
            <p:cNvPr id="87" name="Google Shape;87;p14"/>
            <p:cNvSpPr/>
            <p:nvPr/>
          </p:nvSpPr>
          <p:spPr>
            <a:xfrm>
              <a:off x="1333500" y="3238500"/>
              <a:ext cx="9525000" cy="2857500"/>
            </a:xfrm>
            <a:prstGeom prst="roundRect">
              <a:avLst>
                <a:gd fmla="val 6666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096000" y="3619500"/>
              <a:ext cx="19200" cy="209550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4"/>
          <p:cNvSpPr txBox="1"/>
          <p:nvPr/>
        </p:nvSpPr>
        <p:spPr>
          <a:xfrm>
            <a:off x="3082688" y="1223138"/>
            <a:ext cx="59436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Comic Sans MS"/>
                <a:ea typeface="Comic Sans MS"/>
                <a:cs typeface="Comic Sans MS"/>
                <a:sym typeface="Comic Sans MS"/>
              </a:rPr>
              <a:t>HackDays 4.0</a:t>
            </a:r>
            <a:endParaRPr sz="1800">
              <a:solidFill>
                <a:srgbClr val="94A3B8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149500" y="1825025"/>
            <a:ext cx="3810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Hackathon</a:t>
            </a:r>
            <a:endParaRPr sz="4000">
              <a:solidFill>
                <a:srgbClr val="FFFFF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590400" y="3172125"/>
            <a:ext cx="11601600" cy="91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20">
              <a:solidFill>
                <a:srgbClr val="F8FAFC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423500" y="2816600"/>
            <a:ext cx="40005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latin typeface="Inter SemiBold"/>
              </a:rPr>
              <a:t>Problem Statement Title:</a:t>
            </a:r>
            <a:endParaRPr b="0" sz="1400"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r>
              <a:rPr sz="1400">
                <a:latin typeface="Inter SemiBold"/>
              </a:rPr>
              <a:t>KropScan NER — Hybrid Edge-AI for Marginal NE Farmers</a:t>
            </a:r>
          </a:p>
        </p:txBody>
      </p:sp>
      <p:sp>
        <p:nvSpPr>
          <p:cNvPr id="93" name="Google Shape;93;p14"/>
          <p:cNvSpPr txBox="1"/>
          <p:nvPr/>
        </p:nvSpPr>
        <p:spPr>
          <a:xfrm>
            <a:off x="6404125" y="3340350"/>
            <a:ext cx="4000500" cy="21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Name:</a:t>
            </a:r>
            <a:endParaRPr>
              <a:solidFill>
                <a:srgbClr val="F8FAFC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r>
              <a:rPr sz="1400">
                <a:latin typeface="Inter SemiBold"/>
              </a:rPr>
              <a:t>[Your Team Name]</a:t>
            </a:r>
          </a:p>
        </p:txBody>
      </p:sp>
      <p:pic>
        <p:nvPicPr>
          <p:cNvPr id="94" name="Google Shape;94;p14" title="Screenshot_2026-04-23_085434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3825" y="274375"/>
            <a:ext cx="1757591" cy="15494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536500" y="336475"/>
            <a:ext cx="83220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Department of Information Technology-Gauhati University</a:t>
            </a:r>
            <a:endParaRPr sz="21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6" name="Google Shape;96;p14" title="Gauhati_University_Logo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975" y="336451"/>
            <a:ext cx="1251895" cy="142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1809750" y="1905000"/>
            <a:ext cx="8572500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428875" y="2143125"/>
            <a:ext cx="7667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/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1809750" y="3248025"/>
            <a:ext cx="8572500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2428875" y="3486150"/>
            <a:ext cx="7667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/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1809750" y="4591050"/>
            <a:ext cx="8572500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428875" y="4829175"/>
            <a:ext cx="7667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PAIN POINT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  <a:p>
            <a:r>
              <a:rPr sz="1500">
                <a:latin typeface="Inter SemiBold"/>
              </a:rPr>
              <a:t>Marginal NE farmers lose ₹15K-50K per acre to crop disease outbreaks they can't diagnose in time. Every existing app needs internet — and none cover NER specialty crops like areca nut, large cardamom, king chilli, or Khasi mandarin.</a:t>
            </a:r>
          </a:p>
          <a:p>
            <a:r>
              <a:rPr sz="1500">
                <a:latin typeface="Inter SemiBold"/>
              </a:rPr>
              <a:t/>
            </a:r>
          </a:p>
          <a:p>
            <a:r>
              <a:rPr sz="1500">
                <a:latin typeface="Inter SemiBold"/>
              </a:rPr>
              <a:t>TARGET AUDIENCE</a:t>
            </a:r>
          </a:p>
          <a:p>
            <a:r>
              <a:rPr sz="1500">
                <a:latin typeface="Inter SemiBold"/>
              </a:rPr>
              <a:t>• 11M+ marginal NER farmers (1-2 acres, intermittent connectivity)</a:t>
            </a:r>
          </a:p>
          <a:p>
            <a:r>
              <a:rPr sz="1500">
                <a:latin typeface="Inter SemiBold"/>
              </a:rPr>
              <a:t>• ASHA workers and KVK officers needing district-level surveillance</a:t>
            </a:r>
          </a:p>
          <a:p>
            <a:r>
              <a:rPr sz="1500">
                <a:latin typeface="Inter SemiBold"/>
              </a:rPr>
              <a:t/>
            </a:r>
          </a:p>
          <a:p>
            <a:r>
              <a:rPr sz="1500">
                <a:latin typeface="Inter SemiBold"/>
              </a:rPr>
              <a:t>CURRENT FLAWS</a:t>
            </a:r>
          </a:p>
          <a:p>
            <a:r>
              <a:rPr sz="1500">
                <a:latin typeface="Inter SemiBold"/>
              </a:rPr>
              <a:t>• Plantix and gov apps are cloud-only — break in NER villages</a:t>
            </a:r>
          </a:p>
          <a:p>
            <a:r>
              <a:rPr sz="1500">
                <a:latin typeface="Inter SemiBold"/>
              </a:rPr>
              <a:t>• Zero existing apps cover NER specialty crops</a:t>
            </a:r>
          </a:p>
          <a:p>
            <a:r>
              <a:rPr sz="1500">
                <a:latin typeface="Inter SemiBold"/>
              </a:rPr>
              <a:t>• No advisory layer for jhum (shifting cultivation) erosion crisis</a:t>
            </a:r>
          </a:p>
        </p:txBody>
      </p:sp>
      <p:sp>
        <p:nvSpPr>
          <p:cNvPr id="108" name="Google Shape;108;p15"/>
          <p:cNvSpPr/>
          <p:nvPr/>
        </p:nvSpPr>
        <p:spPr>
          <a:xfrm>
            <a:off x="1809750" y="300037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809750" y="4343400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809750" y="5686425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21955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9775" y="3538537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9775" y="4881562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/>
          </a:p>
        </p:txBody>
      </p:sp>
      <p:pic>
        <p:nvPicPr>
          <p:cNvPr id="115" name="Google Shape;115;p15" title="Screenshot_2026-04-23_085434-removebg-preview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30248" y="212300"/>
            <a:ext cx="1366626" cy="12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7012"/>
            <a:ext cx="5286375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67012"/>
            <a:ext cx="52863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49391" y="315753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Core Concept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62025" y="36242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CONCEPT</a:t>
            </a:r>
            <a:endParaRPr/>
          </a:p>
          <a:p>
            <a:r>
              <a:rPr sz="1500">
                <a:latin typeface="Inter"/>
              </a:rPr>
              <a:t>Three-tier hybrid AI for offline-first NE farming: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1. LOCAL — 81MB ONNX model in WebAssembly. ~95% on 40 common crops. Cached in IndexedDB. Fully offline.</a:t>
            </a:r>
          </a:p>
          <a:p>
            <a:r>
              <a:rPr sz="1500">
                <a:latin typeface="Inter"/>
              </a:rPr>
              <a:t>2. CLOUD — Gemma 4 Vision fallback for NER specialty crops (areca nut, large cardamom, ginger, turmeric, black rice, king chilli, kiwi, Khasi mandarin, tea, bamboo).</a:t>
            </a:r>
          </a:p>
          <a:p>
            <a:r>
              <a:rPr sz="1500">
                <a:latin typeface="Inter"/>
              </a:rPr>
              <a:t>3. GRACEFUL FALLBACK — never crashes; clear retry UX.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Plus: jhum rotation advisory + ASHA disease surveillance + 15 languages incl. 4 NE tribal langs (Bodo / Mizo / Khasi / Manipuri).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VALUE PROPOSITION</a:t>
            </a:r>
          </a:p>
          <a:p>
            <a:r>
              <a:rPr sz="1500">
                <a:latin typeface="Inter"/>
              </a:rPr>
              <a:t>• Connectivity-resilient: works where every other ag app fails</a:t>
            </a:r>
          </a:p>
          <a:p>
            <a:r>
              <a:rPr sz="1500">
                <a:latin typeface="Inter"/>
              </a:rPr>
              <a:t>• Region-specific: only app covering NER crops + tribal languages</a:t>
            </a:r>
          </a:p>
          <a:p>
            <a:r>
              <a:rPr sz="1500">
                <a:latin typeface="Inter"/>
              </a:rPr>
              <a:t>• Public-health tier: outbreak surveillance for state ag departments</a:t>
            </a:r>
          </a:p>
        </p:txBody>
      </p:sp>
      <p:sp>
        <p:nvSpPr>
          <p:cNvPr id="125" name="Google Shape;125;p16"/>
          <p:cNvSpPr txBox="1"/>
          <p:nvPr/>
        </p:nvSpPr>
        <p:spPr>
          <a:xfrm>
            <a:off x="6612016" y="315753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Value Proposition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724650" y="3624262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/>
          </a:p>
        </p:txBody>
      </p:sp>
      <p:pic>
        <p:nvPicPr>
          <p:cNvPr id="128" name="Google Shape;128;p16" title="Screenshot_2026-04-23_085434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49699" y="212300"/>
            <a:ext cx="1647174" cy="14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24100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324100"/>
            <a:ext cx="3429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705927" y="3600450"/>
            <a:ext cx="11601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Frontend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40671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FRONTEND</a:t>
            </a:r>
            <a:endParaRPr/>
          </a:p>
          <a:p>
            <a:r>
              <a:rPr sz="1500">
                <a:latin typeface="Inter"/>
              </a:rPr>
              <a:t>• React 19 + TypeScript + Vite 6</a:t>
            </a:r>
          </a:p>
          <a:p>
            <a:r>
              <a:rPr sz="1500">
                <a:latin typeface="Inter"/>
              </a:rPr>
              <a:t>• Tailwind CSS 3</a:t>
            </a:r>
          </a:p>
          <a:p>
            <a:r>
              <a:rPr sz="1500">
                <a:latin typeface="Inter"/>
              </a:rPr>
              <a:t>• Capacitor 8 (Android wrapper, installable PWA)</a:t>
            </a:r>
          </a:p>
          <a:p>
            <a:r>
              <a:rPr sz="1500">
                <a:latin typeface="Inter"/>
              </a:rPr>
              <a:t>• Recharts (ASHA heatmap)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BACKEND / AI</a:t>
            </a:r>
          </a:p>
          <a:p>
            <a:r>
              <a:rPr sz="1500">
                <a:latin typeface="Inter"/>
              </a:rPr>
              <a:t>• ONNX Runtime Web (in-browser WASM inference)</a:t>
            </a:r>
          </a:p>
          <a:p>
            <a:r>
              <a:rPr sz="1500">
                <a:latin typeface="Inter"/>
              </a:rPr>
              <a:t>• EfficientNetV2-S (40-class plant disease classifier)</a:t>
            </a:r>
          </a:p>
          <a:p>
            <a:r>
              <a:rPr sz="1500">
                <a:latin typeface="Inter"/>
              </a:rPr>
              <a:t>• Google Gemma 4 31B (cloud vision fallback)</a:t>
            </a:r>
          </a:p>
          <a:p>
            <a:r>
              <a:rPr sz="1500">
                <a:latin typeface="Inter"/>
              </a:rPr>
              <a:t>• Gemini 2.5 Flash (UI translation engine)</a:t>
            </a:r>
          </a:p>
          <a:p>
            <a:r>
              <a:rPr sz="1500">
                <a:latin typeface="Inter"/>
              </a:rPr>
              <a:t>• Optional Flask service for server-side inference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DATABASE &amp; CLOUD</a:t>
            </a:r>
          </a:p>
          <a:p>
            <a:r>
              <a:rPr sz="1500">
                <a:latin typeface="Inter"/>
              </a:rPr>
              <a:t>• Firebase Phone OTP Auth + Firestore real-time DB</a:t>
            </a:r>
          </a:p>
          <a:p>
            <a:r>
              <a:rPr sz="1500">
                <a:latin typeface="Inter"/>
              </a:rPr>
              <a:t>• IndexedDB (offline scan history, ONNX model cache)</a:t>
            </a:r>
          </a:p>
          <a:p>
            <a:r>
              <a:rPr sz="1500">
                <a:latin typeface="Inter"/>
              </a:rPr>
              <a:t>• Workbox Service Worker (offline-first PWA)</a:t>
            </a:r>
          </a:p>
        </p:txBody>
      </p:sp>
      <p:sp>
        <p:nvSpPr>
          <p:cNvPr id="139" name="Google Shape;139;p17"/>
          <p:cNvSpPr txBox="1"/>
          <p:nvPr/>
        </p:nvSpPr>
        <p:spPr>
          <a:xfrm>
            <a:off x="5550931" y="3600450"/>
            <a:ext cx="10901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Backend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76775" y="40671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800861" y="3600450"/>
            <a:ext cx="221027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Database &amp; Cloud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86775" y="4067175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85962" y="2762250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27622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2637" y="2762250"/>
            <a:ext cx="466725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/>
          </a:p>
        </p:txBody>
      </p:sp>
      <p:pic>
        <p:nvPicPr>
          <p:cNvPr id="147" name="Google Shape;147;p17" title="Screenshot_2026-04-23_085434-removebg-preview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97550" y="168650"/>
            <a:ext cx="1757525" cy="154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7163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167163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Data Flow &amp; Integrations</a:t>
            </a:r>
            <a:endParaRPr/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681162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95250" y="2138362"/>
            <a:ext cx="5286375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714375" y="2376487"/>
            <a:ext cx="438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 FLOW</a:t>
            </a:r>
            <a:endParaRPr/>
          </a:p>
          <a:p>
            <a:r>
              <a:rPr sz="1500">
                <a:latin typeface="Inter"/>
              </a:rPr>
              <a:t>Camera → Image Quality Gate → Local ONNX (WASM)</a:t>
            </a:r>
          </a:p>
          <a:p>
            <a:r>
              <a:rPr sz="1500">
                <a:latin typeface="Inter"/>
              </a:rPr>
              <a:t>   ↓ (if confidence &lt; 0.55 OR blight)</a:t>
            </a:r>
          </a:p>
          <a:p>
            <a:r>
              <a:rPr sz="1500">
                <a:latin typeface="Inter"/>
              </a:rPr>
              <a:t>Gemma 4 Vision (cloud) → Diagnosis → Treatment Plan in ₹/acre</a:t>
            </a:r>
          </a:p>
          <a:p>
            <a:r>
              <a:rPr sz="1500">
                <a:latin typeface="Inter"/>
              </a:rPr>
              <a:t>   ↓</a:t>
            </a:r>
          </a:p>
          <a:p>
            <a:r>
              <a:rPr sz="1500">
                <a:latin typeface="Inter"/>
              </a:rPr>
              <a:t>Stored to IndexedDB (offline) + Firestore (sync)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KEY ALGORITHMS</a:t>
            </a:r>
          </a:p>
          <a:p>
            <a:r>
              <a:rPr sz="1500">
                <a:latin typeface="Inter"/>
              </a:rPr>
              <a:t>• Hybrid escalation with confidence + blight-specific override</a:t>
            </a:r>
          </a:p>
          <a:p>
            <a:r>
              <a:rPr sz="1500">
                <a:latin typeface="Inter"/>
              </a:rPr>
              <a:t>• Severity-weighted aggregation: score = Σ severity × log10(farmers+1)</a:t>
            </a:r>
          </a:p>
          <a:p>
            <a:r>
              <a:rPr sz="1500">
                <a:latin typeface="Inter"/>
              </a:rPr>
              <a:t>• Slope/soil erosion model calibrated to ICAR-NEH research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PERFORMANCE &amp; SECURITY</a:t>
            </a:r>
          </a:p>
          <a:p>
            <a:r>
              <a:rPr sz="1500">
                <a:latin typeface="Inter"/>
              </a:rPr>
              <a:t>• Bundle 1.5MB JS gzipped; 81MB ONNX cached forever in IndexedDB</a:t>
            </a:r>
          </a:p>
          <a:p>
            <a:r>
              <a:rPr sz="1500">
                <a:latin typeface="Inter"/>
              </a:rPr>
              <a:t>• First scan &lt;3s cold, &lt;1s warm</a:t>
            </a:r>
          </a:p>
          <a:p>
            <a:r>
              <a:rPr sz="1500">
                <a:latin typeface="Inter"/>
              </a:rPr>
              <a:t>• Phone OTP auth (no email leak vector); ASHA reports anonymized</a:t>
            </a:r>
          </a:p>
          <a:p>
            <a:r>
              <a:rPr sz="1500">
                <a:latin typeface="Inter"/>
              </a:rPr>
              <a:t>• ~₹0.05 per user-month on Gemma free tier</a:t>
            </a:r>
          </a:p>
        </p:txBody>
      </p:sp>
      <p:sp>
        <p:nvSpPr>
          <p:cNvPr id="158" name="Google Shape;158;p18"/>
          <p:cNvSpPr/>
          <p:nvPr/>
        </p:nvSpPr>
        <p:spPr>
          <a:xfrm>
            <a:off x="95250" y="3481387"/>
            <a:ext cx="5286375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14375" y="3719512"/>
            <a:ext cx="438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95250" y="4824412"/>
            <a:ext cx="5286375" cy="1104900"/>
          </a:xfrm>
          <a:prstGeom prst="roundRect">
            <a:avLst>
              <a:gd fmla="val 1034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14375" y="5062537"/>
            <a:ext cx="4381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95250" y="3233737"/>
            <a:ext cx="5286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95250" y="4576762"/>
            <a:ext cx="5286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5250" y="5919787"/>
            <a:ext cx="52863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5275" y="242887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5275" y="37719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5275" y="511492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/>
          </a:p>
        </p:txBody>
      </p:sp>
      <p:pic>
        <p:nvPicPr>
          <p:cNvPr id="169" name="Google Shape;169;p18" title="Screenshot_2026-04-23_085434-removebg-preview.png"/>
          <p:cNvPicPr preferRelativeResize="0"/>
          <p:nvPr/>
        </p:nvPicPr>
        <p:blipFill rotWithShape="1">
          <a:blip r:embed="rId9">
            <a:alphaModFix/>
          </a:blip>
          <a:srcRect b="-11297" l="-21191" r="9894" t="0"/>
          <a:stretch/>
        </p:blipFill>
        <p:spPr>
          <a:xfrm>
            <a:off x="10139125" y="197750"/>
            <a:ext cx="1757591" cy="15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448865" y="666750"/>
            <a:ext cx="515064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2947987"/>
            <a:ext cx="51506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Key Demo Features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34147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JUDGES WILL SEE (~3 minutes live)</a:t>
            </a:r>
            <a:endParaRPr/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1. SCAN AN ARECA NUT LEAF — local ONNX returns low confidence → app silently escalates to Gemma → "Areca Nut Yellow Leaf Disease (Phytoplasma)" + ₹2,200/acre treatment plan in INR. Pull WiFi mid-scan to prove offline capability for the 40 common crops.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2. JHUM ROTATION ADVISORY — pick crop / years cleared / slope / soil → instant "Critical erosion risk 75/100. Rotate Rice → Soybean → Maize → Finger Millet → 8-yr fallow." AI agronomist insights load.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3. SWITCH UI TO BODO — Settings → Language → Bodo. Sidebar, dashboard, scan flow all flip to Bodo Devanagari. Cached forever.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WOW FACTORS</a:t>
            </a:r>
          </a:p>
          <a:p>
            <a:r>
              <a:rPr sz="1500">
                <a:latin typeface="Inter"/>
              </a:rPr>
              <a:t>• Fully offline crop diagnosis in browser via WebAssembly</a:t>
            </a:r>
          </a:p>
          <a:p>
            <a:r>
              <a:rPr sz="1500">
                <a:latin typeface="Inter"/>
              </a:rPr>
              <a:t>• NER specialty crops without retraining (hybrid prompt-eng fallback)</a:t>
            </a:r>
          </a:p>
          <a:p>
            <a:r>
              <a:rPr sz="1500">
                <a:latin typeface="Inter"/>
              </a:rPr>
              <a:t>• Tribal language UI auto-translated and cached</a:t>
            </a:r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45577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pic>
        <p:nvPicPr>
          <p:cNvPr id="180" name="Google Shape;180;p19" title="Screenshot_2026-04-23_08543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5724" y="212300"/>
            <a:ext cx="1581151" cy="13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95787"/>
            <a:ext cx="254124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7419" y="2214562"/>
            <a:ext cx="254124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3339" y="4395787"/>
            <a:ext cx="254124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9259" y="2214562"/>
            <a:ext cx="2541240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71500" y="4043362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717995" y="4595812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771525" y="4957762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PHASE 1 — IMMEDIATE (next 2 weeks)</a:t>
            </a:r>
            <a:endParaRPr/>
          </a:p>
          <a:p>
            <a:r>
              <a:rPr sz="1500">
                <a:latin typeface="Inter"/>
              </a:rPr>
              <a:t>• Field-validate NER crop diagnoses with KVK officers</a:t>
            </a:r>
          </a:p>
          <a:p>
            <a:r>
              <a:rPr sz="1500">
                <a:latin typeface="Inter"/>
              </a:rPr>
              <a:t>• Source 500+ real NER disease photos for retraining set</a:t>
            </a:r>
          </a:p>
          <a:p>
            <a:r>
              <a:rPr sz="1500">
                <a:latin typeface="Inter"/>
              </a:rPr>
              <a:t>• Bake tribal language translations at build time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PHASE 2 — CORE EXPANSION (1-2 months)</a:t>
            </a:r>
          </a:p>
          <a:p>
            <a:r>
              <a:rPr sz="1500">
                <a:latin typeface="Inter"/>
              </a:rPr>
              <a:t>• Retrain ONNX on NER-specific dataset</a:t>
            </a:r>
          </a:p>
          <a:p>
            <a:r>
              <a:rPr sz="1500">
                <a:latin typeface="Inter"/>
              </a:rPr>
              <a:t>• Bluetooth/WiFi-Direct mesh sync for offline ASHA reports</a:t>
            </a:r>
          </a:p>
          <a:p>
            <a:r>
              <a:rPr sz="1500">
                <a:latin typeface="Inter"/>
              </a:rPr>
              <a:t>• Native Android APK distribution via KVK partnerships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PHASE 3 — BETA LAUNCH (3-6 months)</a:t>
            </a:r>
          </a:p>
          <a:p>
            <a:r>
              <a:rPr sz="1500">
                <a:latin typeface="Inter"/>
              </a:rPr>
              <a:t>• 1,000-farmer pilot in 3 NE districts</a:t>
            </a:r>
          </a:p>
          <a:p>
            <a:r>
              <a:rPr sz="1500">
                <a:latin typeface="Inter"/>
              </a:rPr>
              <a:t>• Integration with Govt of India ENAM mandi prices</a:t>
            </a:r>
          </a:p>
          <a:p>
            <a:r>
              <a:rPr sz="1500">
                <a:latin typeface="Inter"/>
              </a:rPr>
              <a:t>• Voice-input chatbot for low-literacy farmers (Whisper API)</a:t>
            </a:r>
          </a:p>
          <a:p>
            <a:r>
              <a:rPr sz="1500">
                <a:latin typeface="Inter"/>
              </a:rPr>
              <a:t/>
            </a:r>
          </a:p>
          <a:p>
            <a:r>
              <a:rPr sz="1500">
                <a:latin typeface="Inter"/>
              </a:rPr>
              <a:t>PHASE 4 — LONG-TERM (6-18 months)</a:t>
            </a:r>
          </a:p>
          <a:p>
            <a:r>
              <a:rPr sz="1500">
                <a:latin typeface="Inter"/>
              </a:rPr>
              <a:t>• B2G licensing of ASHA dashboard to state ag departments</a:t>
            </a:r>
          </a:p>
          <a:p>
            <a:r>
              <a:rPr sz="1500">
                <a:latin typeface="Inter"/>
              </a:rPr>
              <a:t>• Expansion to other connectivity-poor regions</a:t>
            </a:r>
          </a:p>
          <a:p>
            <a:r>
              <a:rPr sz="1500">
                <a:latin typeface="Inter"/>
              </a:rPr>
              <a:t>• Crop insurance partnership integration</a:t>
            </a:r>
          </a:p>
        </p:txBody>
      </p:sp>
      <p:sp>
        <p:nvSpPr>
          <p:cNvPr id="193" name="Google Shape;193;p20"/>
          <p:cNvSpPr txBox="1"/>
          <p:nvPr/>
        </p:nvSpPr>
        <p:spPr>
          <a:xfrm>
            <a:off x="3553915" y="2414587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607444" y="2776537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389835" y="4595812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443364" y="4957762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225755" y="2414587"/>
            <a:ext cx="2248249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EA5E9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4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279284" y="2776537"/>
            <a:ext cx="21411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1727820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563740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7399659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0235579" y="39481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5275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/>
            </a:r>
            <a:endParaRPr/>
          </a:p>
        </p:txBody>
      </p:sp>
      <p:pic>
        <p:nvPicPr>
          <p:cNvPr id="204" name="Google Shape;204;p20" title="Screenshot_2026-04-23_085434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39275" y="212300"/>
            <a:ext cx="1757591" cy="15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2375" y="3017490"/>
            <a:ext cx="46672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295275" y="476250"/>
            <a:ext cx="11601450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187642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Any questions from the judges?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3762375" y="3408015"/>
            <a:ext cx="4667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github.com/garvitsurana271/kropscan</a:t>
            </a:r>
            <a:endParaRPr/>
          </a:p>
        </p:txBody>
      </p:sp>
      <p:pic>
        <p:nvPicPr>
          <p:cNvPr id="214" name="Google Shape;214;p21" title="Screenshot_2026-04-23_08543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39275" y="212300"/>
            <a:ext cx="1757591" cy="154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SUBMISSION GUIDELINES &amp; BEST PRACTICES</a:t>
            </a:r>
            <a:endParaRPr b="1" sz="3200">
              <a:solidFill>
                <a:srgbClr val="0EA5E9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20" name="Google Shape;220;p22"/>
          <p:cNvGrpSpPr/>
          <p:nvPr/>
        </p:nvGrpSpPr>
        <p:grpSpPr>
          <a:xfrm>
            <a:off x="571500" y="1714500"/>
            <a:ext cx="3429000" cy="1714500"/>
            <a:chOff x="571500" y="1714500"/>
            <a:chExt cx="3429000" cy="1714500"/>
          </a:xfrm>
        </p:grpSpPr>
        <p:sp>
          <p:nvSpPr>
            <p:cNvPr id="221" name="Google Shape;221;p22"/>
            <p:cNvSpPr/>
            <p:nvPr/>
          </p:nvSpPr>
          <p:spPr>
            <a:xfrm>
              <a:off x="571500" y="1714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762000" y="1809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Appendix Limit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762000" y="2286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Maximum of 12 additional slides allowed for extra data or technical deep-dives.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4" name="Google Shape;224;p22"/>
          <p:cNvGrpSpPr/>
          <p:nvPr/>
        </p:nvGrpSpPr>
        <p:grpSpPr>
          <a:xfrm>
            <a:off x="4381500" y="1714500"/>
            <a:ext cx="3429000" cy="1714500"/>
            <a:chOff x="4381500" y="1714500"/>
            <a:chExt cx="3429000" cy="1714500"/>
          </a:xfrm>
        </p:grpSpPr>
        <p:sp>
          <p:nvSpPr>
            <p:cNvPr id="225" name="Google Shape;225;p22"/>
            <p:cNvSpPr/>
            <p:nvPr/>
          </p:nvSpPr>
          <p:spPr>
            <a:xfrm>
              <a:off x="4381500" y="1714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2"/>
            <p:cNvSpPr txBox="1"/>
            <p:nvPr/>
          </p:nvSpPr>
          <p:spPr>
            <a:xfrm>
              <a:off x="4572000" y="1809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Visual First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4572000" y="2286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Avoid paragraphs. Prioritize diagrams, infographics, and clear visual evidence.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" name="Google Shape;228;p22"/>
          <p:cNvGrpSpPr/>
          <p:nvPr/>
        </p:nvGrpSpPr>
        <p:grpSpPr>
          <a:xfrm>
            <a:off x="8191500" y="1714500"/>
            <a:ext cx="3429000" cy="1714500"/>
            <a:chOff x="8191500" y="1714500"/>
            <a:chExt cx="3429000" cy="1714500"/>
          </a:xfrm>
        </p:grpSpPr>
        <p:sp>
          <p:nvSpPr>
            <p:cNvPr id="229" name="Google Shape;229;p22"/>
            <p:cNvSpPr/>
            <p:nvPr/>
          </p:nvSpPr>
          <p:spPr>
            <a:xfrm>
              <a:off x="8191500" y="1714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8382000" y="1809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Precision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1" name="Google Shape;231;p22"/>
            <p:cNvSpPr txBox="1"/>
            <p:nvPr/>
          </p:nvSpPr>
          <p:spPr>
            <a:xfrm>
              <a:off x="8382000" y="2286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Keep explanations concise. Ensure your core value prop is easy to grasp.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22"/>
          <p:cNvGrpSpPr/>
          <p:nvPr/>
        </p:nvGrpSpPr>
        <p:grpSpPr>
          <a:xfrm>
            <a:off x="571500" y="3619500"/>
            <a:ext cx="3429000" cy="1714500"/>
            <a:chOff x="571500" y="3619500"/>
            <a:chExt cx="3429000" cy="1714500"/>
          </a:xfrm>
        </p:grpSpPr>
        <p:sp>
          <p:nvSpPr>
            <p:cNvPr id="233" name="Google Shape;233;p22"/>
            <p:cNvSpPr/>
            <p:nvPr/>
          </p:nvSpPr>
          <p:spPr>
            <a:xfrm>
              <a:off x="571500" y="3619500"/>
              <a:ext cx="342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 txBox="1"/>
            <p:nvPr/>
          </p:nvSpPr>
          <p:spPr>
            <a:xfrm>
              <a:off x="762000" y="37147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Novelty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762000" y="4191000"/>
              <a:ext cx="304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Focus on unique and novel aspects of your idea that disrupt the status quo.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4381500" y="3619500"/>
            <a:ext cx="7239000" cy="1714500"/>
            <a:chOff x="4381500" y="3619500"/>
            <a:chExt cx="7239000" cy="1714500"/>
          </a:xfrm>
        </p:grpSpPr>
        <p:sp>
          <p:nvSpPr>
            <p:cNvPr id="237" name="Google Shape;237;p22"/>
            <p:cNvSpPr/>
            <p:nvPr/>
          </p:nvSpPr>
          <p:spPr>
            <a:xfrm>
              <a:off x="4381500" y="3619500"/>
              <a:ext cx="72390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2"/>
            <p:cNvSpPr txBox="1"/>
            <p:nvPr/>
          </p:nvSpPr>
          <p:spPr>
            <a:xfrm>
              <a:off x="4572000" y="3714750"/>
              <a:ext cx="685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Template Compliance</a:t>
              </a:r>
              <a:endParaRPr b="0" sz="1800">
                <a:solidFill>
                  <a:srgbClr val="F8FAFC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  <p:sp>
          <p:nvSpPr>
            <p:cNvPr id="239" name="Google Shape;239;p22"/>
            <p:cNvSpPr txBox="1"/>
            <p:nvPr/>
          </p:nvSpPr>
          <p:spPr>
            <a:xfrm>
              <a:off x="4572000" y="4191000"/>
              <a:ext cx="685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Use the provided template styles. Maintain all previous idea details and pointers without alteration.</a:t>
              </a:r>
              <a:endParaRPr b="0"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40" name="Google Shape;240;p22" title="Screenshot_2026-04-23_085434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08962" y="212300"/>
            <a:ext cx="1487911" cy="13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